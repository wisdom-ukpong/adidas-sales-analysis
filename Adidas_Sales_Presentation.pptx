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\$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82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Men's Street Footwear</c:v>
                </c:pt>
                <c:pt idx="1">
                  <c:v>Women's Apparel</c:v>
                </c:pt>
                <c:pt idx="2">
                  <c:v>Men's Athletic Footwear</c:v>
                </c:pt>
                <c:pt idx="3">
                  <c:v>Women's Street Footwear</c:v>
                </c:pt>
                <c:pt idx="4">
                  <c:v>Men's Apparel</c:v>
                </c:pt>
                <c:pt idx="5">
                  <c:v>Women's Athletic Footwear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208.8</c:v>
                </c:pt>
                <c:pt idx="1">
                  <c:v>179</c:v>
                </c:pt>
                <c:pt idx="2">
                  <c:v>153.69999999999999</c:v>
                </c:pt>
                <c:pt idx="3">
                  <c:v>128</c:v>
                </c:pt>
                <c:pt idx="4">
                  <c:v>123.7</c:v>
                </c:pt>
                <c:pt idx="5">
                  <c:v>106.6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BA-44D3-8452-6177598777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11827"/>
            </a:solidFill>
            <a:effectLst/>
          </c:spPr>
          <c:invertIfNegative val="0"/>
          <c:dLbls>
            <c:numFmt formatCode="\$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82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West Gear</c:v>
                </c:pt>
                <c:pt idx="1">
                  <c:v>Foot Locker</c:v>
                </c:pt>
                <c:pt idx="2">
                  <c:v>Sports Direct</c:v>
                </c:pt>
                <c:pt idx="3">
                  <c:v>Kohl's</c:v>
                </c:pt>
                <c:pt idx="4">
                  <c:v>Amazon</c:v>
                </c:pt>
                <c:pt idx="5">
                  <c:v>Walmart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243</c:v>
                </c:pt>
                <c:pt idx="1">
                  <c:v>220.1</c:v>
                </c:pt>
                <c:pt idx="2">
                  <c:v>182.5</c:v>
                </c:pt>
                <c:pt idx="3">
                  <c:v>102.1</c:v>
                </c:pt>
                <c:pt idx="4">
                  <c:v>77.7</c:v>
                </c:pt>
                <c:pt idx="5">
                  <c:v>74.599999999999994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9B-4F5E-BCA8-2277706D73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\$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82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West</c:v>
                </c:pt>
                <c:pt idx="1">
                  <c:v>Northeast</c:v>
                </c:pt>
                <c:pt idx="2">
                  <c:v>Southeast</c:v>
                </c:pt>
                <c:pt idx="3">
                  <c:v>South</c:v>
                </c:pt>
                <c:pt idx="4">
                  <c:v>Midwest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269.89999999999998</c:v>
                </c:pt>
                <c:pt idx="1">
                  <c:v>186.3</c:v>
                </c:pt>
                <c:pt idx="2">
                  <c:v>163.19999999999999</c:v>
                </c:pt>
                <c:pt idx="3">
                  <c:v>144.69999999999999</c:v>
                </c:pt>
                <c:pt idx="4">
                  <c:v>135.80000000000001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91-4053-B25D-EBD99325FF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Method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118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5D-494A-B279-405FFA573F77}"/>
              </c:ext>
            </c:extLst>
          </c:dPt>
          <c:dPt>
            <c:idx val="1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5D-494A-B279-405FFA573F77}"/>
              </c:ext>
            </c:extLst>
          </c:dPt>
          <c:dPt>
            <c:idx val="2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5D-494A-B279-405FFA573F7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5D-494A-B279-405FFA573F7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5D-494A-B279-405FFA573F7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55D-494A-B279-405FFA573F7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In-store</c:v>
                </c:pt>
                <c:pt idx="1">
                  <c:v>Outlet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356.6</c:v>
                </c:pt>
                <c:pt idx="1">
                  <c:v>295.60000000000002</c:v>
                </c:pt>
                <c:pt idx="2">
                  <c:v>247.7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55D-494A-B279-405FFA573F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ln w="38100" cap="flat">
              <a:solidFill>
                <a:srgbClr val="9CA3A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16.3</c:v>
                </c:pt>
                <c:pt idx="1">
                  <c:v>15</c:v>
                </c:pt>
                <c:pt idx="2">
                  <c:v>17.7</c:v>
                </c:pt>
                <c:pt idx="3">
                  <c:v>24.6</c:v>
                </c:pt>
                <c:pt idx="4">
                  <c:v>16.899999999999999</c:v>
                </c:pt>
                <c:pt idx="5">
                  <c:v>8.8000000000000007</c:v>
                </c:pt>
                <c:pt idx="6">
                  <c:v>17.100000000000001</c:v>
                </c:pt>
                <c:pt idx="7">
                  <c:v>19.899999999999999</c:v>
                </c:pt>
                <c:pt idx="8">
                  <c:v>18.3</c:v>
                </c:pt>
                <c:pt idx="9">
                  <c:v>10.8</c:v>
                </c:pt>
                <c:pt idx="10">
                  <c:v>8.6</c:v>
                </c:pt>
                <c:pt idx="11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78-4F7B-BCD6-BF1FB6ECA7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ln w="38100" cap="flat">
              <a:solidFill>
                <a:srgbClr val="1D4E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55.2</c:v>
                </c:pt>
                <c:pt idx="1">
                  <c:v>46.1</c:v>
                </c:pt>
                <c:pt idx="2">
                  <c:v>39.1</c:v>
                </c:pt>
                <c:pt idx="3">
                  <c:v>47.7</c:v>
                </c:pt>
                <c:pt idx="4">
                  <c:v>63.6</c:v>
                </c:pt>
                <c:pt idx="5">
                  <c:v>65.900000000000006</c:v>
                </c:pt>
                <c:pt idx="6">
                  <c:v>78.3</c:v>
                </c:pt>
                <c:pt idx="7">
                  <c:v>72.3</c:v>
                </c:pt>
                <c:pt idx="8">
                  <c:v>59.4</c:v>
                </c:pt>
                <c:pt idx="9">
                  <c:v>53.1</c:v>
                </c:pt>
                <c:pt idx="10">
                  <c:v>59.2</c:v>
                </c:pt>
                <c:pt idx="11">
                  <c:v>77.8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78-4F7B-BCD6-BF1FB6ECA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\$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329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objective: turn Adidas sales records into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numbers. Every figure comes from the cleaned dataset of 9,648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Men's Street Footwear is both the top seller and the highest-margin product. Men's Athletic Footwear sells well but earns the lowest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Sports Direct is the profit-quality leader. West Gear is the volume leader but earns below-average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West has volume but a thin margin, mainly from high-priced, lower-margin markets such as Washington (26.6%) and San Francisco (29.7%).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West Gear alone earns $156.7M in-store, which is why in-store leads overall.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Seasonality is the reliable signal here; the year-on-year multiples are inflated by data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of the coverage issue, rank the products by relative growth rather than quoting the multiples as real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detail is in the Word recommendations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$900M in sales and 37% margin, and where to focus next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0972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BeTechified Data Analytics Capstone | January 2020 – December 2021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9,648 transactions across 6 retailers, 5 regions and 6 products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| 2020–2021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$899.9M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42032" y="1371600"/>
            <a:ext cx="192024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$332.1M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profit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6864" y="1371600"/>
            <a:ext cx="192024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6864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36.9%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11696" y="1371600"/>
            <a:ext cx="192024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11696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2.48M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is the #1 product (23% of sales).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 and Foot Locker deliver about 52% of sales.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is the biggest region, but South earns the best margin.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leads on revenue; Online leads on units and margin.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Footwear and Women's Apparel lead the range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product ($M)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| 2020–2021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0" y="137160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Footwear $336.8M (37%)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$302.8M (34%)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 Footwear $260.3M (29%)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watch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39.7%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Athletic Footwear 33.7%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 and Foot Locker drive half of all sales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retailer ($M) and operating margin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| 2020–2021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0" y="137160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Direct 40.7% (best)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37.1%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Locker 36.7%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Kohl's 36.0%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 35.3%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34.6% (lowest)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is the biggest market; South is the most profitable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 ($M) with operating margin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| 2020–2021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94960" y="128016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by region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42.3%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38.9%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37.1%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36.5%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33.2%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$64.2M | California $60.2M | Florida $59.3M | Texas $46.4M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earns the most; Online sells the most units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method share of revenue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| 2020–2021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4206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63040"/>
          <a:ext cx="3931920" cy="1645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$356.6M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$295.6M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$247.7M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846320" y="33832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has the highest margin but only entered meaningful volume in 2021, so its trend should be monitored.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in Q3 and again in December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($M), 2020 vs 2021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| 2020–2021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26480" y="13716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sales (both years)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Q3 $265.3M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Q2 $227.6M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Q4 $217.6M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Q1 $189.4M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3108960"/>
            <a:ext cx="265176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31546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2021 is about 4x 2020 partly because Amazon, Kohl's and Online records barely exist in 2020.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grew in 2021; none is declining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vs 2020 sales by product ($M)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| 2020–2021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26883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Street Footwear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$37.8M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$171.0M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Apparel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$35.2M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$143.8M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Athletic Footwear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$31.8M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$121.9M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Street Footwear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$27.4M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$100.6M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Apparel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Athletic Footwear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852160" y="13716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growth: Men's Street Footwear.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Weakest: Women's Athletic Footwear, which is also the smallest line.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targets exist in the data, so 2020 is used as the benchmark.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areas for Adidas to act 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| 2020–2021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280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Men's Street Footwear; lift Women's Athletic with targeted promotion; fix Men's Athletic margin.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optimization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965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Online (best margin, most units) while keeping in-store strength at West Gear.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651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focus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651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West volume but improve its margin; expand in South and Midwest where margins are high.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41071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337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3375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 around Q3 and December peaks using monthly, state-level forecasts.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3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management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40233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Sports Direct; renegotiate terms with West Gear and Walmart; scale Amazon and Kohl's.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Footwear and Women's Apparel carry the range.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quality varies: Sports Direct and the South lead, West and Walmart lag.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is the margin and volume opportunity.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 (no targets, uneven 2020 coverage) should be fixed before setting forecasts.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|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860</Words>
  <Application>Microsoft Office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Adidas Sales Analysis</dc:title>
  <dc:subject>PptxGenJS Presentation</dc:subject>
  <dc:creator>BeTechified Capstone Group</dc:creator>
  <cp:lastModifiedBy>IFIOK OBADIAH</cp:lastModifiedBy>
  <cp:revision>1</cp:revision>
  <dcterms:created xsi:type="dcterms:W3CDTF">2026-10-21T09:42:30Z</dcterms:created>
  <dcterms:modified xsi:type="dcterms:W3CDTF">2026-10-21T10:15:34Z</dcterms:modified>
</cp:coreProperties>
</file>